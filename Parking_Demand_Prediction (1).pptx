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188720"/>
            <a:ext cx="4114800" cy="4114800"/>
          </a:xfrm>
          <a:prstGeom prst="ellipse">
            <a:avLst/>
          </a:prstGeom>
          <a:solidFill>
            <a:srgbClr val="1B4B5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389120"/>
            <a:ext cx="2926080" cy="2926080"/>
          </a:xfrm>
          <a:prstGeom prst="ellipse">
            <a:avLst/>
          </a:prstGeom>
          <a:solidFill>
            <a:srgbClr val="1B4B5A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754880"/>
            <a:ext cx="3108960" cy="3108960"/>
          </a:xfrm>
          <a:prstGeom prst="ellipse">
            <a:avLst/>
          </a:prstGeom>
          <a:solidFill>
            <a:srgbClr val="1B4B5A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640080"/>
            <a:ext cx="822960" cy="822960"/>
          </a:xfrm>
          <a:prstGeom prst="ellipse">
            <a:avLst/>
          </a:prstGeom>
          <a:solidFill>
            <a:srgbClr val="1B4B5A"/>
          </a:solidFill>
          <a:ln/>
        </p:spPr>
      </p:sp>
      <p:pic>
        <p:nvPicPr>
          <p:cNvPr id="6" name="Image 0" descr="white/c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83759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6858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ENGINEERING AND DISTRIBUTED BACKEND DEVELOPMENT (25CS1302E)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228600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Parking Demand Prediction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22960" y="30632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Elastic Net Regression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22960" y="39776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9C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learning approach to forecast parking space demand and ease urban congestion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822960" y="4617720"/>
            <a:ext cx="2011680" cy="0"/>
          </a:xfrm>
          <a:prstGeom prst="line">
            <a:avLst/>
          </a:prstGeom>
          <a:noFill/>
          <a:ln w="31750">
            <a:solidFill>
              <a:srgbClr val="F2A54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5669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No-9  |  Team No-32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" y="6035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C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Rishi Alapati (2520030268)   •   Srikar (2520030076)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22960" y="63825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3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Y25  •  2026–2027  •  Trimester 4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Cities Are Running Out of Predictable Parking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7E9"/>
            </a:solidFill>
            <a:prstDash val="solid"/>
          </a:ln>
          <a:effectLst>
            <a:outerShdw sx="100000" sy="100000" kx="0" ky="0" algn="bl" rotWithShape="0" blurRad="101600" dist="38100" dir="5400000">
              <a:srgbClr val="13293D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777240" cy="777240"/>
          </a:xfrm>
          <a:prstGeom prst="ellipse">
            <a:avLst/>
          </a:prstGeom>
          <a:solidFill>
            <a:srgbClr val="E4EEF0"/>
          </a:solidFill>
          <a:ln/>
        </p:spPr>
      </p:sp>
      <p:pic>
        <p:nvPicPr>
          <p:cNvPr id="6" name="Image 0" descr="teal/c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219821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971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Rising Vehicle Numbers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342900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vehicles on the road every year, competing for a fixed supply of parking spaces.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7E9"/>
            </a:solidFill>
            <a:prstDash val="solid"/>
          </a:ln>
          <a:effectLst>
            <a:outerShdw sx="100000" sy="100000" kx="0" ky="0" algn="bl" rotWithShape="0" blurRad="101600" dist="38100" dir="5400000">
              <a:srgbClr val="13293D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17720" y="2011680"/>
            <a:ext cx="777240" cy="777240"/>
          </a:xfrm>
          <a:prstGeom prst="ellipse">
            <a:avLst/>
          </a:prstGeom>
          <a:solidFill>
            <a:srgbClr val="E4EEF0"/>
          </a:solidFill>
          <a:ln/>
        </p:spPr>
      </p:sp>
      <p:pic>
        <p:nvPicPr>
          <p:cNvPr id="11" name="Image 1" descr="teal/ro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258" y="219821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971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 Congestion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72000" y="342900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 circling in search of parking add to congestion and wasted travel time.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046720" y="169164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1E7E9"/>
            </a:solidFill>
            <a:prstDash val="solid"/>
          </a:ln>
          <a:effectLst>
            <a:outerShdw sx="100000" sy="100000" kx="0" ky="0" algn="bl" rotWithShape="0" blurRad="101600" dist="38100" dir="5400000">
              <a:srgbClr val="13293D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2011680"/>
            <a:ext cx="777240" cy="777240"/>
          </a:xfrm>
          <a:prstGeom prst="ellipse">
            <a:avLst/>
          </a:prstGeom>
          <a:solidFill>
            <a:srgbClr val="E4EEF0"/>
          </a:solidFill>
          <a:ln/>
        </p:spPr>
      </p:sp>
      <p:pic>
        <p:nvPicPr>
          <p:cNvPr id="16" name="Image 2" descr="teal/cit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3298" y="219821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97180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Inefficient Space Use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321040" y="342900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demand insight, facilities are poorly allocated — over-crowded in some spots, empty in others.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3293D"/>
          </a:solidFill>
          <a:ln/>
        </p:spPr>
      </p:sp>
      <p:sp>
        <p:nvSpPr>
          <p:cNvPr id="20" name="Text 15"/>
          <p:cNvSpPr/>
          <p:nvPr/>
        </p:nvSpPr>
        <p:spPr>
          <a:xfrm>
            <a:off x="868680" y="525780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parking demand from historical and contextual data so managers and planners can act ahead of time, not react after the fact.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Demand Prediction Using Elastic Net Regression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APPROACH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Elastic Net Regression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 Regression 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the strengths of two proven techniques into a single, more reliable model: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523744"/>
            <a:ext cx="128016" cy="12801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957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70662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correlated parking-related variables without instability.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3419856"/>
            <a:ext cx="128016" cy="12801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291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Regression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602736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selects the most important predictive features.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315968"/>
            <a:ext cx="128016" cy="128016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18795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 (combined)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498848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both — stable, accurate, and interpretable predictions.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040880" y="1965960"/>
            <a:ext cx="2468880" cy="2468880"/>
          </a:xfrm>
          <a:prstGeom prst="ellipse">
            <a:avLst/>
          </a:prstGeom>
          <a:solidFill>
            <a:srgbClr val="1B4B5A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0" y="1965960"/>
            <a:ext cx="2468880" cy="246888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2971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555480" y="297180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092440" y="288036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9440" y="48463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feature selection with stability for correlated, real-world traffic data.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Demand Prediction Using Elastic Net Regression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System Workflow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60220" y="2697480"/>
            <a:ext cx="8668512" cy="0"/>
          </a:xfrm>
          <a:prstGeom prst="line">
            <a:avLst/>
          </a:prstGeom>
          <a:noFill/>
          <a:ln w="25400">
            <a:solidFill>
              <a:srgbClr val="F2A541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257300" y="2194560"/>
            <a:ext cx="1005840" cy="1005840"/>
          </a:xfrm>
          <a:prstGeom prst="ellipse">
            <a:avLst/>
          </a:prstGeom>
          <a:solidFill>
            <a:srgbClr val="1B4B5A"/>
          </a:solidFill>
          <a:ln/>
        </p:spPr>
      </p:sp>
      <p:pic>
        <p:nvPicPr>
          <p:cNvPr id="6" name="Image 0" descr="white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8702" y="2435962"/>
            <a:ext cx="523037" cy="523037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229868" y="2167128"/>
            <a:ext cx="1060704" cy="1060704"/>
          </a:xfrm>
          <a:prstGeom prst="ellipse">
            <a:avLst/>
          </a:prstGeom>
          <a:ln w="19050">
            <a:solidFill>
              <a:srgbClr val="F2A54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559052" y="1901952"/>
            <a:ext cx="402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85800" y="33375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Data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85800" y="3730752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C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parking, time, location &amp; weather data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424428" y="2194560"/>
            <a:ext cx="1005840" cy="1005840"/>
          </a:xfrm>
          <a:prstGeom prst="ellipse">
            <a:avLst/>
          </a:prstGeom>
          <a:solidFill>
            <a:srgbClr val="1B4B5A"/>
          </a:solidFill>
          <a:ln/>
        </p:spPr>
      </p:sp>
      <p:pic>
        <p:nvPicPr>
          <p:cNvPr id="12" name="Image 1" descr="white/co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5830" y="2435962"/>
            <a:ext cx="523037" cy="523037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396996" y="2167128"/>
            <a:ext cx="1060704" cy="1060704"/>
          </a:xfrm>
          <a:prstGeom prst="ellipse">
            <a:avLst/>
          </a:prstGeom>
          <a:ln w="19050">
            <a:solidFill>
              <a:srgbClr val="F2A54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3726180" y="1901952"/>
            <a:ext cx="402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852928" y="33375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2852928" y="3730752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C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encode &amp; scale the dataset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591556" y="2194560"/>
            <a:ext cx="1005840" cy="1005840"/>
          </a:xfrm>
          <a:prstGeom prst="ellipse">
            <a:avLst/>
          </a:prstGeom>
          <a:solidFill>
            <a:srgbClr val="1B4B5A"/>
          </a:solidFill>
          <a:ln/>
        </p:spPr>
      </p:sp>
      <p:pic>
        <p:nvPicPr>
          <p:cNvPr id="18" name="Image 2" descr="white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2958" y="2435962"/>
            <a:ext cx="523037" cy="523037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564124" y="2167128"/>
            <a:ext cx="1060704" cy="1060704"/>
          </a:xfrm>
          <a:prstGeom prst="ellipse">
            <a:avLst/>
          </a:prstGeom>
          <a:ln w="19050">
            <a:solidFill>
              <a:srgbClr val="F2A541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893308" y="1901952"/>
            <a:ext cx="402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020056" y="33375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Features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5020056" y="3730752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C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 selects key predictors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7758684" y="2194560"/>
            <a:ext cx="1005840" cy="1005840"/>
          </a:xfrm>
          <a:prstGeom prst="ellipse">
            <a:avLst/>
          </a:prstGeom>
          <a:solidFill>
            <a:srgbClr val="1B4B5A"/>
          </a:solidFill>
          <a:ln/>
        </p:spPr>
      </p:sp>
      <p:pic>
        <p:nvPicPr>
          <p:cNvPr id="24" name="Image 3" descr="white/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0086" y="2435962"/>
            <a:ext cx="523037" cy="523037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7731252" y="2167128"/>
            <a:ext cx="1060704" cy="1060704"/>
          </a:xfrm>
          <a:prstGeom prst="ellipse">
            <a:avLst/>
          </a:prstGeom>
          <a:ln w="19050">
            <a:solidFill>
              <a:srgbClr val="F2A541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8060436" y="1901952"/>
            <a:ext cx="402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7187184" y="33375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Model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7187184" y="3730752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C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&amp; validate the regression model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9925812" y="2194560"/>
            <a:ext cx="1005840" cy="1005840"/>
          </a:xfrm>
          <a:prstGeom prst="ellipse">
            <a:avLst/>
          </a:prstGeom>
          <a:solidFill>
            <a:srgbClr val="1B4B5A"/>
          </a:solidFill>
          <a:ln/>
        </p:spPr>
      </p:sp>
      <p:pic>
        <p:nvPicPr>
          <p:cNvPr id="30" name="Image 4" descr="white/targe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7214" y="2435962"/>
            <a:ext cx="523037" cy="523037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9898380" y="2167128"/>
            <a:ext cx="1060704" cy="1060704"/>
          </a:xfrm>
          <a:prstGeom prst="ellipse">
            <a:avLst/>
          </a:prstGeom>
          <a:ln w="19050">
            <a:solidFill>
              <a:srgbClr val="F2A541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10227564" y="1901952"/>
            <a:ext cx="4023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3" name="Text 26"/>
          <p:cNvSpPr/>
          <p:nvPr/>
        </p:nvSpPr>
        <p:spPr>
          <a:xfrm>
            <a:off x="9354312" y="3337560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Demand</a:t>
            </a:r>
            <a:endParaRPr lang="en-US" sz="1350" dirty="0"/>
          </a:p>
        </p:txBody>
      </p:sp>
      <p:sp>
        <p:nvSpPr>
          <p:cNvPr id="34" name="Text 27"/>
          <p:cNvSpPr/>
          <p:nvPr/>
        </p:nvSpPr>
        <p:spPr>
          <a:xfrm>
            <a:off x="9354312" y="3730752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9C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vehicles/spaces needed</a:t>
            </a:r>
            <a:endParaRPr lang="en-US" sz="1050" dirty="0"/>
          </a:p>
        </p:txBody>
      </p:sp>
      <p:sp>
        <p:nvSpPr>
          <p:cNvPr id="35" name="Shape 28"/>
          <p:cNvSpPr/>
          <p:nvPr/>
        </p:nvSpPr>
        <p:spPr>
          <a:xfrm>
            <a:off x="548640" y="52578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B4B5A"/>
          </a:solidFill>
          <a:ln/>
        </p:spPr>
      </p:sp>
      <p:sp>
        <p:nvSpPr>
          <p:cNvPr id="36" name="Text 29"/>
          <p:cNvSpPr/>
          <p:nvPr/>
        </p:nvSpPr>
        <p:spPr>
          <a:xfrm>
            <a:off x="868680" y="525780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 </a:t>
            </a:r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number of vehicles / parking spaces required for a given time and location.</a:t>
            </a:r>
            <a:endParaRPr lang="en-US" sz="1350" dirty="0"/>
          </a:p>
        </p:txBody>
      </p:sp>
      <p:sp>
        <p:nvSpPr>
          <p:cNvPr id="37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C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Demand Prediction Using Elastic Net Regression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C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Model Learns From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1E7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984248"/>
            <a:ext cx="777240" cy="777240"/>
          </a:xfrm>
          <a:prstGeom prst="ellipse">
            <a:avLst/>
          </a:prstGeom>
          <a:solidFill>
            <a:srgbClr val="E4EEF0"/>
          </a:solidFill>
          <a:ln/>
        </p:spPr>
      </p:sp>
      <p:pic>
        <p:nvPicPr>
          <p:cNvPr id="6" name="Image 0" descr="teal/c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10" y="2170786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8424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37360" y="2350008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Hour-of-day patterns in parking demand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1E7E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53712" y="1984248"/>
            <a:ext cx="777240" cy="777240"/>
          </a:xfrm>
          <a:prstGeom prst="ellipse">
            <a:avLst/>
          </a:prstGeom>
          <a:solidFill>
            <a:srgbClr val="E4EEF0"/>
          </a:solidFill>
          <a:ln/>
        </p:spPr>
      </p:sp>
      <p:pic>
        <p:nvPicPr>
          <p:cNvPr id="11" name="Image 1" descr="teal/ro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0250" y="2170786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98424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486400" y="2350008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vs. weekend variation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46720" y="169164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1E7E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02752" y="1984248"/>
            <a:ext cx="777240" cy="777240"/>
          </a:xfrm>
          <a:prstGeom prst="ellipse">
            <a:avLst/>
          </a:prstGeom>
          <a:solidFill>
            <a:srgbClr val="E4EEF0"/>
          </a:solidFill>
          <a:ln/>
        </p:spPr>
      </p:sp>
      <p:pic>
        <p:nvPicPr>
          <p:cNvPr id="16" name="Image 2" descr="teal/locatio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9290" y="2170786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235440" y="198424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9235440" y="2350008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Zone- and facility-specific demand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384048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1E7E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4672" y="4133088"/>
            <a:ext cx="777240" cy="777240"/>
          </a:xfrm>
          <a:prstGeom prst="ellipse">
            <a:avLst/>
          </a:prstGeom>
          <a:solidFill>
            <a:srgbClr val="E4EEF0"/>
          </a:solidFill>
          <a:ln/>
        </p:spPr>
      </p:sp>
      <p:pic>
        <p:nvPicPr>
          <p:cNvPr id="21" name="Image 3" descr="teal/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210" y="4319626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737360" y="413308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Demand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1737360" y="4498848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occupancy trends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297680" y="384048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1E7E9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53712" y="4133088"/>
            <a:ext cx="777240" cy="777240"/>
          </a:xfrm>
          <a:prstGeom prst="ellipse">
            <a:avLst/>
          </a:prstGeom>
          <a:solidFill>
            <a:srgbClr val="E4EEF0"/>
          </a:solidFill>
          <a:ln/>
        </p:spPr>
      </p:sp>
      <p:pic>
        <p:nvPicPr>
          <p:cNvPr id="26" name="Image 4" descr="teal/weath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0250" y="4319626"/>
            <a:ext cx="404165" cy="40416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486400" y="413308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5486400" y="4498848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influencing travel behavior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046720" y="384048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1E7E9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02752" y="4133088"/>
            <a:ext cx="777240" cy="777240"/>
          </a:xfrm>
          <a:prstGeom prst="ellipse">
            <a:avLst/>
          </a:prstGeom>
          <a:solidFill>
            <a:srgbClr val="E4EEF0"/>
          </a:solidFill>
          <a:ln/>
        </p:spPr>
      </p:sp>
      <p:pic>
        <p:nvPicPr>
          <p:cNvPr id="31" name="Image 5" descr="teal/lay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89290" y="4319626"/>
            <a:ext cx="404165" cy="40416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235440" y="4133088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Variables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9235440" y="4498848"/>
            <a:ext cx="21488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contextual signals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Demand Prediction Using Elastic Net Regression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Frameworks &amp; Tools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53212" y="1965960"/>
            <a:ext cx="2011680" cy="31089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1E7E9"/>
            </a:solidFill>
            <a:prstDash val="solid"/>
          </a:ln>
          <a:effectLst>
            <a:outerShdw sx="100000" sy="100000" kx="0" ky="0" algn="bl" rotWithShape="0" blurRad="76200" dist="25400" dir="5400000">
              <a:srgbClr val="13293D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47572" y="2286000"/>
            <a:ext cx="822960" cy="822960"/>
          </a:xfrm>
          <a:prstGeom prst="ellipse">
            <a:avLst/>
          </a:prstGeom>
          <a:solidFill>
            <a:srgbClr val="E4EEF0"/>
          </a:solidFill>
          <a:ln/>
        </p:spPr>
      </p:sp>
      <p:pic>
        <p:nvPicPr>
          <p:cNvPr id="6" name="Image 0" descr="teal/co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5082" y="2483510"/>
            <a:ext cx="427939" cy="4279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4652" y="3246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90372" y="361188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language for the ML model and data processing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20924" y="1965960"/>
            <a:ext cx="2011680" cy="31089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1E7E9"/>
            </a:solidFill>
            <a:prstDash val="solid"/>
          </a:ln>
          <a:effectLst>
            <a:outerShdw sx="100000" sy="100000" kx="0" ky="0" algn="bl" rotWithShape="0" blurRad="76200" dist="25400" dir="5400000">
              <a:srgbClr val="13293D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15284" y="2286000"/>
            <a:ext cx="822960" cy="822960"/>
          </a:xfrm>
          <a:prstGeom prst="ellipse">
            <a:avLst/>
          </a:prstGeom>
          <a:solidFill>
            <a:srgbClr val="E4EEF0"/>
          </a:solidFill>
          <a:ln/>
        </p:spPr>
      </p:sp>
      <p:pic>
        <p:nvPicPr>
          <p:cNvPr id="11" name="Image 1" descr="teal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2794" y="2483510"/>
            <a:ext cx="427939" cy="42793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12364" y="3246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958084" y="361188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loading, cleaning &amp; missing-value handling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088636" y="1965960"/>
            <a:ext cx="2011680" cy="31089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1E7E9"/>
            </a:solidFill>
            <a:prstDash val="solid"/>
          </a:ln>
          <a:effectLst>
            <a:outerShdw sx="100000" sy="100000" kx="0" ky="0" algn="bl" rotWithShape="0" blurRad="76200" dist="25400" dir="5400000">
              <a:srgbClr val="13293D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682996" y="2286000"/>
            <a:ext cx="822960" cy="822960"/>
          </a:xfrm>
          <a:prstGeom prst="ellipse">
            <a:avLst/>
          </a:prstGeom>
          <a:solidFill>
            <a:srgbClr val="E4EEF0"/>
          </a:solidFill>
          <a:ln/>
        </p:spPr>
      </p:sp>
      <p:pic>
        <p:nvPicPr>
          <p:cNvPr id="16" name="Image 2" descr="teal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0506" y="2483510"/>
            <a:ext cx="427939" cy="42793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80076" y="3246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225796" y="361188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Net, train/test split, scaling, evaluation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356348" y="1965960"/>
            <a:ext cx="2011680" cy="31089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1E7E9"/>
            </a:solidFill>
            <a:prstDash val="solid"/>
          </a:ln>
          <a:effectLst>
            <a:outerShdw sx="100000" sy="100000" kx="0" ky="0" algn="bl" rotWithShape="0" blurRad="76200" dist="25400" dir="5400000">
              <a:srgbClr val="13293D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950708" y="2286000"/>
            <a:ext cx="822960" cy="822960"/>
          </a:xfrm>
          <a:prstGeom prst="ellipse">
            <a:avLst/>
          </a:prstGeom>
          <a:solidFill>
            <a:srgbClr val="E4EEF0"/>
          </a:solidFill>
          <a:ln/>
        </p:spPr>
      </p:sp>
      <p:pic>
        <p:nvPicPr>
          <p:cNvPr id="21" name="Image 3" descr="teal/serv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8218" y="2483510"/>
            <a:ext cx="427939" cy="42793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47788" y="3246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493508" y="361188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Deploys the trained model as a REST API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624060" y="1965960"/>
            <a:ext cx="2011680" cy="31089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1E7E9"/>
            </a:solidFill>
            <a:prstDash val="solid"/>
          </a:ln>
          <a:effectLst>
            <a:outerShdw sx="100000" sy="100000" kx="0" ky="0" algn="bl" rotWithShape="0" blurRad="76200" dist="25400" dir="5400000">
              <a:srgbClr val="13293D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218420" y="2286000"/>
            <a:ext cx="822960" cy="822960"/>
          </a:xfrm>
          <a:prstGeom prst="ellipse">
            <a:avLst/>
          </a:prstGeom>
          <a:solidFill>
            <a:srgbClr val="E4EEF0"/>
          </a:solidFill>
          <a:ln/>
        </p:spPr>
      </p:sp>
      <p:pic>
        <p:nvPicPr>
          <p:cNvPr id="26" name="Image 4" descr="teal/lay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5930" y="2483510"/>
            <a:ext cx="427939" cy="42793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715500" y="3246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MLflow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9761220" y="361188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experiments, parameters &amp; model versions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Demand Prediction Using Elastic Net Regression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on Parking Management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1B4B5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777240" cy="777240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6" name="Image 0" descr="white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218" y="228965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0632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 Demand Patterns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61188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 when and where parking demand peaks across the city.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97680" y="178308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1B4B5A"/>
          </a:solidFill>
          <a:ln/>
        </p:spPr>
      </p:sp>
      <p:sp>
        <p:nvSpPr>
          <p:cNvPr id="10" name="Shape 7"/>
          <p:cNvSpPr/>
          <p:nvPr/>
        </p:nvSpPr>
        <p:spPr>
          <a:xfrm>
            <a:off x="4617720" y="2103120"/>
            <a:ext cx="777240" cy="777240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11" name="Image 1" descr="white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258" y="228965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0632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 Space Utilization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72000" y="361188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supply to demand and reduce over- or under-used lots.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46720" y="1783080"/>
            <a:ext cx="3429000" cy="3017520"/>
          </a:xfrm>
          <a:prstGeom prst="roundRect">
            <a:avLst>
              <a:gd name="adj" fmla="val 3636"/>
            </a:avLst>
          </a:prstGeom>
          <a:solidFill>
            <a:srgbClr val="1B4B5A"/>
          </a:solidFill>
          <a:ln/>
        </p:spPr>
      </p:sp>
      <p:sp>
        <p:nvSpPr>
          <p:cNvPr id="15" name="Shape 11"/>
          <p:cNvSpPr/>
          <p:nvPr/>
        </p:nvSpPr>
        <p:spPr>
          <a:xfrm>
            <a:off x="8366760" y="2103120"/>
            <a:ext cx="777240" cy="777240"/>
          </a:xfrm>
          <a:prstGeom prst="ellipse">
            <a:avLst/>
          </a:prstGeom>
          <a:solidFill>
            <a:srgbClr val="13293D"/>
          </a:solidFill>
          <a:ln/>
        </p:spPr>
      </p:sp>
      <p:pic>
        <p:nvPicPr>
          <p:cNvPr id="16" name="Image 2" descr="white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3298" y="228965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30632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 Decisions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21040" y="361188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planners and facility managers evidence-based insight.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48640" y="5074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solution for efficient, forward-looking parking demand planning.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B9C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Demand Prediction Using Elastic Net Regression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9C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4EE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371600"/>
            <a:ext cx="3657600" cy="3657600"/>
          </a:xfrm>
          <a:prstGeom prst="ellipse">
            <a:avLst/>
          </a:prstGeom>
          <a:solidFill>
            <a:srgbClr val="1B4B5A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3840480" cy="3840480"/>
          </a:xfrm>
          <a:prstGeom prst="ellipse">
            <a:avLst/>
          </a:prstGeom>
          <a:solidFill>
            <a:srgbClr val="1B4B5A"/>
          </a:solidFill>
          <a:ln/>
        </p:spPr>
      </p:sp>
      <p:sp>
        <p:nvSpPr>
          <p:cNvPr id="4" name="Shape 2"/>
          <p:cNvSpPr/>
          <p:nvPr/>
        </p:nvSpPr>
        <p:spPr>
          <a:xfrm>
            <a:off x="5591556" y="64008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teal/c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958" y="881482"/>
            <a:ext cx="523037" cy="52303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182880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329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0" y="25146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1B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Parking Demand Prediction Using Elastic Net Regression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088636" y="3246120"/>
            <a:ext cx="2011680" cy="0"/>
          </a:xfrm>
          <a:prstGeom prst="line">
            <a:avLst/>
          </a:prstGeom>
          <a:noFill/>
          <a:ln w="31750">
            <a:solidFill>
              <a:srgbClr val="F2A54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68396" y="3657600"/>
            <a:ext cx="58521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5E1E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51276" y="38404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No-32  •  Section No-9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351276" y="4251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Rishi Alapati  (2520030268)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351276" y="4617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Srikar  (2520030076)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0" y="57607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4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Guidance Welcome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2026-08-31T03:45:06Z</dcterms:created>
  <dcterms:modified xsi:type="dcterms:W3CDTF">2026-08-31T03:45:06Z</dcterms:modified>
</cp:coreProperties>
</file>